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开场：今天是最后一学期第一次报告。实验在暑假已经全部完成，今天主要想请老师帮我确定几件写论文前必须定下来的事。题目是暂定的，也想听老师意见。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先把今天要请老师决定的 6 件事亮出来，让老师边听边想。报告部分会讲得快一些，重点在第 10 页之后。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帮老师回忆研究设计。强调一个老师可能不知道的发现：Gold 约 79% 的评论来自面板数据，不排除会污染测试集，所以做了精确+近似去重。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一页交代进度：实验全部完成，只剩 RQ4 和案例分析两项离线分析，约一周，不需要 GPU。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表是 seed42 的配对 bootstrap。右下的注意很重要：我发现同一个 seed 重跑会差最多约 0.7pp（XLM-R 0.65pp、DeBERTa 0.71pp），所以改用全部 7 次运行作基线分布，结论仍然成立（E8 最差也比 E1 最好高）。主动说出来比被问到好。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这页是机制证据：提升集中在面板有对应评分项的方面，朝食/夕食因为面板只有一个“食事”项所以没改善。这说明提升确实来自弱标签信号，而不是随机波动。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消融都是 seed42 单次。重点讲分层学习率那一行：弱监督的好处完全消失，这是一个有意思的机制观察。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要主动说明：这些点都是单次运行、而且是在 test 上比较的；valid 指标没保存、checkpoint 已删，无法事后在 valid 上重选。所以我建议把它定位为分析性实验，不用来选主配置。另外年份效应的机制我排除过“标签分布漂移”：各年的负面率其实差不多。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审查老师一定会问：换了更强的基座模型，弱监督还有没有用？答案是有，DeBERTa 上仍然显著 +1.85pp。SCL 对比学习是一个做过的对照，结果是负面的，也放进论文。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RQ3 是今天最需要老师判断的点：原假设是弱监督对隐式负面特别有效，结果不成立。我的想法是把它当作正式的负面发现写，并和“日语专用模型确实改善隐式负面”对比，这样故事反而更完整。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按这个章节结构写。想问老师：扩展实验（骨干模型、SCL）放第 6 章分析，还是单独成章。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风险都已有对策。前两条是我自己查出来的，主动讲，体现结论是经得起追问的。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日期是按常规修论节奏假设的，要请老师告诉我正式提交日和中期提交节点，会后更新。NLP 年次大会的截止日期我会后再查确认。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逐项问，老师回答后当场在自己的纸上记下结论。①③是连着的：如果老师选 B，就需要在 valid 上重新选配置，要补实验，时间会紧。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备用页，被问到数字口径时翻到这里。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DE2FB"/>
                </a:solidFill>
                <a:latin typeface="Yu Gothic"/>
                <a:ea typeface="Yu Gothic"/>
                <a:cs typeface="Yu Gothic"/>
              </a:rPr>
              <a:t>修士論文 最終学期 第1回 研究報告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評価点を弱教師とした事前学習による</a:t>
            </a:r>
          </a:p>
          <a:p>
            <a:pPr algn="l">
              <a:spcAft>
                <a:spcPts val="1000"/>
              </a:spcAft>
            </a:pPr>
            <a:r>
              <a:rPr sz="3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日本語ホテルレビューのアスペクト感情分析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CDE2FB"/>
                </a:solidFill>
                <a:latin typeface="Yu Gothic"/>
                <a:ea typeface="Yu Gothic"/>
                <a:cs typeface="Yu Gothic"/>
              </a:rPr>
              <a:t>― 暗示的なネガティブ表現の検出に向けて ―（仮題）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2026年10月1日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Gu Jincheng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本日の目的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8983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120640" cy="4389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C5CAB"/>
                </a:solidFill>
                <a:latin typeface="Yu Gothic"/>
                <a:ea typeface="Yu Gothic"/>
                <a:cs typeface="Yu Gothic"/>
              </a:rPr>
              <a:t>ご報告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・夏学期に実験はすべて完了しました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・主な結果と、当初の仮説と異なった点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・修論完成までの計画とリスク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371600"/>
            <a:ext cx="5669280" cy="4023360"/>
          </a:xfrm>
          <a:prstGeom prst="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0" y="1371600"/>
            <a:ext cx="73152" cy="402336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521208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1C5CAB"/>
                </a:solidFill>
                <a:latin typeface="Yu Gothic"/>
                <a:ea typeface="Yu Gothic"/>
                <a:cs typeface="Yu Gothic"/>
              </a:rPr>
              <a:t>本日決めていただきたいこと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① 主結果にどの実験構成を置くか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② RQ3（仮説と逆の結果）の扱い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③ データ量・年代実験の位置づけ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④ 論文の言語・体裁・中間提出日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⑤ レビュー本文の引用可否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⑥ 追加実験・対外発表の要否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Yu Gothic"/>
                <a:ea typeface="Yu Gothic"/>
                <a:cs typeface="Yu Gothic"/>
              </a:rPr>
              <a:t>→ p.14 に選択肢と私の提案をまとめています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研究の問いと手法（再確認）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8983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1556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・課題：Gold データの感情ラベルの 86.5% は暗示的（感情語を含まない）。ネガティブでは約 92%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・ベースライン（E1）では、暗示的ネガティブの F1 が明示的より 4.3pp 低い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・着想：楽天トラベルのレビューには投稿者による観点別の評価点がある → 約 700 万件の「無料の弱ラベル」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46120"/>
            <a:ext cx="3200400" cy="1828800"/>
          </a:xfrm>
          <a:prstGeom prst="rect">
            <a:avLst/>
          </a:prstGeom>
          <a:solidFill>
            <a:srgbClr val="EAF2FC"/>
          </a:solidFill>
          <a:ln w="15875">
            <a:solidFill>
              <a:srgbClr val="1C5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30175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C5CAB"/>
                </a:solidFill>
                <a:latin typeface="Yu Gothic"/>
                <a:ea typeface="Yu Gothic"/>
                <a:cs typeface="Yu Gothic"/>
              </a:rPr>
              <a:t>E7 弱教師事前学習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パネルの観点別評価点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（低評価＝ネガ）で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6 ヘッドを学習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794760"/>
            <a:ext cx="594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1C5CAB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3246120"/>
            <a:ext cx="3200400" cy="1828800"/>
          </a:xfrm>
          <a:prstGeom prst="rect">
            <a:avLst/>
          </a:prstGeom>
          <a:solidFill>
            <a:srgbClr val="EAF2FC"/>
          </a:solidFill>
          <a:ln w="15875">
            <a:solidFill>
              <a:srgbClr val="1C5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383280"/>
            <a:ext cx="30175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C5CAB"/>
                </a:solidFill>
                <a:latin typeface="Yu Gothic"/>
                <a:ea typeface="Yu Gothic"/>
                <a:cs typeface="Yu Gothic"/>
              </a:rPr>
              <a:t>E8 Gold 微調整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14 ラベル ABSA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（7 観点 × 正/負）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794760"/>
            <a:ext cx="594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1C5CAB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3246120"/>
            <a:ext cx="3200400" cy="1828800"/>
          </a:xfrm>
          <a:prstGeom prst="rect">
            <a:avLst/>
          </a:prstGeom>
          <a:solidFill>
            <a:srgbClr val="EAF2FC"/>
          </a:solidFill>
          <a:ln w="15875">
            <a:solidFill>
              <a:srgbClr val="1C5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383280"/>
            <a:ext cx="30175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C5CAB"/>
                </a:solidFill>
                <a:latin typeface="Yu Gothic"/>
                <a:ea typeface="Yu Gothic"/>
                <a:cs typeface="Yu Gothic"/>
              </a:rPr>
              <a:t>評価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Gold test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E1（事前学習なし）と比較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Yu Gothic"/>
                <a:ea typeface="Yu Gothic"/>
                <a:cs typeface="Yu Gothic"/>
              </a:rPr>
              <a:t>データの健全性：パネルと Gold の重複 11,369 件（完全一致 9,911＋近似 1,458）を除外。Gold の約 79% がパネル由来であることを発見し、テスト汚染を防止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夏学期の進捗：実験はすべて完了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8983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949440"/>
                <a:gridCol w="22860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段階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データ整備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全 16 年・約 700 万件を解析、列対応を公式仕様で確定、Gold 重複を除外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完了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主実験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E7 → E8、有意性検定（paired bootstrap）、複数 seed、アブレーション 4 種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完了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分析実験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データ量（58 万〜676 万件）、年代（近年 / 早年）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完了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追加実験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日本語専用モデル比較、積み上げ、対照学習（SCL）との比較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完了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未実施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RQ4（評価点と本文の一致度）、事例分析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執筆前に実施（約 1 週間）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C5CAB"/>
                </a:solidFill>
                <a:latin typeface="Yu Gothic"/>
                <a:ea typeface="Yu Gothic"/>
                <a:cs typeface="Yu Gothic"/>
              </a:rPr>
              <a:t>残りは主に執筆。GPU を要する実験は原則として不要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C5CAB"/>
                </a:solidFill>
                <a:latin typeface="Yu Gothic"/>
                <a:ea typeface="Yu Gothic"/>
                <a:cs typeface="Yu Gothic"/>
              </a:rPr>
              <a:t>A1  E1 vs E8（XLM-R）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主結果：弱教師事前学習はネガティブ検出を改善する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8983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371600"/>
                <a:gridCol w="1463040"/>
                <a:gridCol w="2926080"/>
                <a:gridCol w="118872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指標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E1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E8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差 Δ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95% CI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判定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ネガティブ集約 F1</a:t>
                      </a:r>
                    </a:p>
                  </a:txBody>
                  <a:tcPr marL="73152" marR="73152" marT="36576" marB="36576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0.7023</a:t>
                      </a:r>
                    </a:p>
                  </a:txBody>
                  <a:tcPr marL="73152" marR="73152" marT="36576" marB="36576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0.7223</a:t>
                      </a:r>
                    </a:p>
                  </a:txBody>
                  <a:tcPr marL="73152" marR="73152" marT="36576" marB="36576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+2.00pp</a:t>
                      </a:r>
                    </a:p>
                  </a:txBody>
                  <a:tcPr marL="73152" marR="73152" marT="36576" marB="36576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[+0.80, +3.21]</a:t>
                      </a:r>
                    </a:p>
                  </a:txBody>
                  <a:tcPr marL="73152" marR="73152" marT="36576" marB="36576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有意</a:t>
                      </a:r>
                    </a:p>
                  </a:txBody>
                  <a:tcPr marL="73152" marR="73152" marT="36576" marB="36576" anchor="ctr">
                    <a:solidFill>
                      <a:srgbClr val="EAF2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マイクロ F1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0.8234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0.8303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+0.70pp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[+0.20, +1.23]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有意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ポジティブ集約 F1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0.8608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0.8637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+0.30pp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[−0.25, +0.83]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非有意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3703320"/>
            <a:ext cx="5394960" cy="1737360"/>
          </a:xfrm>
          <a:prstGeom prst="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703320"/>
            <a:ext cx="73152" cy="173736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5029200" cy="1463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C5CAB"/>
                </a:solidFill>
                <a:latin typeface="Yu Gothic"/>
                <a:ea typeface="Yu Gothic"/>
                <a:cs typeface="Yu Gothic"/>
              </a:rPr>
              <a:t>頑健性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E1 全 7 回：0.7075 ± 0.0048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E8 3 seed：0.7235 ± 0.0052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→ 差 +1.60pp。E8 の最低値が E1 の最高値を上回る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703320"/>
            <a:ext cx="5394960" cy="1737360"/>
          </a:xfrm>
          <a:prstGeom prst="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3703320"/>
            <a:ext cx="73152" cy="173736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840480"/>
            <a:ext cx="5029200" cy="1463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C5CAB"/>
                </a:solidFill>
                <a:latin typeface="Yu Gothic"/>
                <a:ea typeface="Yu Gothic"/>
                <a:cs typeface="Yu Gothic"/>
              </a:rPr>
              <a:t>解釈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ネガのみ有意、ポジは非有意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→ 全体の底上げではなく、ネガティブに特異的に効いている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注：同一 seed でも GPU の非決定性で最大約 0.7pp 揺れるため、単一 run ではなく分布で比較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C5CAB"/>
                </a:solidFill>
                <a:latin typeface="Yu Gothic"/>
                <a:ea typeface="Yu Gothic"/>
                <a:cs typeface="Yu Gothic"/>
              </a:rPr>
              <a:t>観点別ネガティブ F1（E1 → E8）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どこに効いたか：評価項目がある観点に集中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8983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pic>
        <p:nvPicPr>
          <p:cNvPr id="6" name="Picture 5" descr="chart_asp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4053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1645920"/>
            <a:ext cx="411480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・改善は、パネルの評価項目が直接対応する観点（立地・部屋・設備）に集中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・朝食・夕食はほぼ改善なし：パネルは「食事」1 項目のみ → 粒度のミスマッチ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・立地は事前学習では最も弱いヘッド（F1 0.35）だったが、下流では最大の改善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C5CAB"/>
                </a:solidFill>
                <a:latin typeface="Yu Gothic"/>
                <a:ea typeface="Yu Gothic"/>
                <a:cs typeface="Yu Gothic"/>
              </a:rPr>
              <a:t>→ 事前学習タスクの精度 ≠ 下流での価値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アブレーション：主構成の各選択は妥当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8983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834640"/>
                <a:gridCol w="1188720"/>
                <a:gridCol w="1371600"/>
                <a:gridCol w="34747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比較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条件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ネガ F1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マイクロ F1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結論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A2 微調整方法</a:t>
                      </a:r>
                    </a:p>
                  </a:txBody>
                  <a:tcPr marL="73152" marR="73152" marT="36576" marB="36576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全パラメータ（主構成）</a:t>
                      </a:r>
                    </a:p>
                  </a:txBody>
                  <a:tcPr marL="73152" marR="73152" marT="36576" marB="36576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0.7224</a:t>
                      </a:r>
                    </a:p>
                  </a:txBody>
                  <a:tcPr marL="73152" marR="73152" marT="36576" marB="36576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0.8303</a:t>
                      </a:r>
                    </a:p>
                  </a:txBody>
                  <a:tcPr marL="73152" marR="73152" marT="36576" marB="36576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最良</a:t>
                      </a:r>
                    </a:p>
                  </a:txBody>
                  <a:tcPr marL="73152" marR="73152" marT="36576" marB="36576" anchor="ctr">
                    <a:solidFill>
                      <a:srgbClr val="EAF2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層別学習率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0.7031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0.8178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E1（0.7033）と同等 → 利点が消える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エンコーダ凍結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0.6040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0.6277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下限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A3 事前学習 epoch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1 epoch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0.7194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0.8317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2 epoch とほぼ同じ → 1 epoch で十分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A4 総合評価ヘッド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7 ヘッド（総合を追加）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0.7215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0.8300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効果なし → 6 ヘッドで正しい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2920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・発見：層別学習率では弱教師の利点が消える → 事前学習の表現は「エンコーダを十分に更新できて初めて活きる」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データ量と年代の影響（分析的実験）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8983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pic>
        <p:nvPicPr>
          <p:cNvPr id="5" name="Picture 4" descr="chart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4053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554480"/>
            <a:ext cx="411480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・量：200 万件で最大、676 万件ではかえって低下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・年代：同規模でも 近年 +3.12pp vs 早年 +1.55pp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　– テスト（2018–19 年）に文体が近いデータほど有効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　– 評価点ラベルの分布は年代間で大差なし → ラベルではなく言語ドメインの差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4480560"/>
            <a:ext cx="4114800" cy="1737360"/>
          </a:xfrm>
          <a:prstGeom prst="rect">
            <a:avLst/>
          </a:prstGeom>
          <a:solidFill>
            <a:srgbClr val="FD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4480560"/>
            <a:ext cx="73152" cy="1737360"/>
          </a:xfrm>
          <a:prstGeom prst="rect">
            <a:avLst/>
          </a:prstGeom>
          <a:solidFill>
            <a:srgbClr val="B54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4617720"/>
            <a:ext cx="3749039" cy="1463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5471C"/>
                </a:solidFill>
                <a:latin typeface="Yu Gothic"/>
                <a:ea typeface="Yu Gothic"/>
                <a:cs typeface="Yu Gothic"/>
              </a:rPr>
              <a:t>注意（ご相談③）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各点は単一 run かつテストで比較 → 最適構成の「選択」には使わず、分析として報告したい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ベースモデル比較と積み上げ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8983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667512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554480"/>
                <a:gridCol w="155448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構成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ネガ集約 F1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E1 比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XLM-R  E1（5 seed）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0.7066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DeBERTa-ja  E1（5 seed）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0.7255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+1.9pp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DeBERTa-ja  + E7/E8（3 seed）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0.7447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+3.8pp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39"/>
            <a:ext cx="66751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2514E"/>
                </a:solidFill>
                <a:latin typeface="Yu Gothic"/>
                <a:ea typeface="Yu Gothic"/>
                <a:cs typeface="Yu Gothic"/>
              </a:rPr>
              <a:t>注：数値は保存した予測からの再計算（bootstrap と同じ定義）。E7/E8 は近年 200 万件で事前学習。XLM-R ＋ E7/E8 の結果は p.5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417320"/>
            <a:ext cx="429768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・日本語専用モデル（DeBERTa-ja）は暗示ネガ F1 を有意に改善（+0.98pp, P=0.99）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　– 手がかりの少ない文（短文・否定形なし）で差が大きい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・DeBERTa 上でも E7/E8 が +1.85pp（有意）→ 2 つの改善は相補的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・否定的結果：対照学習（SCL, SCAPT 核心）は BCE より −1.87pp（有意に劣る）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　– 文書単位の 1 ビット vs 観点別の 6 ビット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研究課題（RQ）ごとの回答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8983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572000"/>
                <a:gridCol w="5577840"/>
              </a:tblGrid>
              <a:tr h="58521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RQ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問い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回答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RQ1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暗示的な観点感情は明示的より難しいか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Yes（−4.3pp）。ただし差の指標自体は seed 間で揺れが大きい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RQ2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評価点による弱教師事前学習は ABSA を改善するか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Yes（+1.60pp、有意・頑健）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RQ3</a:t>
                      </a:r>
                    </a:p>
                  </a:txBody>
                  <a:tcPr marL="73152" marR="73152" marT="36576" marB="36576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改善は暗示的ネガティブで特に大きいか</a:t>
                      </a:r>
                    </a:p>
                  </a:txBody>
                  <a:tcPr marL="73152" marR="73152" marT="36576" marB="36576" anchor="ctr">
                    <a:solidFill>
                      <a:srgbClr val="EAF2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No（当初仮説と逆）。暗示ネガを有意に改善したのは日本語専用モデル → ご相談②</a:t>
                      </a:r>
                    </a:p>
                  </a:txBody>
                  <a:tcPr marL="73152" marR="73152" marT="36576" marB="36576" anchor="ctr">
                    <a:solidFill>
                      <a:srgbClr val="EAF2FC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RQ4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評価点と本文はどの程度一致するか（弱ラベルのノイズ）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未分析 → 執筆前に実施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RQ5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oseti による明示 / 暗示の分割は信頼できるか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人手検証は実施せず、限界として記載（決定済み）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RQ6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LLM は暗示的な表現で優れるか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実施せず（範囲外）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論文の構成案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8983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577840"/>
                <a:gridCol w="34747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章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素材の状況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1  序論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動機、RQ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あり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2  関連研究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ABSA、弱教師、ドメイン適応事前学習など 27 本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整理済み → 論文調に書き直し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3  データ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Gold、パネル、重複除外、列対応の確定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あり（図は未作成）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4  手法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2 段階学習（E7 → E8）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あり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5  実験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主結果、アブレーション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あり（図表は未作成）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6  分析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観点別、データ量・年代、ベースモデル、機構分析、RQ4、事例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RQ4・事例が未実施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7  結論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RQ への回答、限界、今後の課題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限界のリストは確定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リスクと対応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8983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612648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リスク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対応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テストセットで構成を比較した（データ量・年代）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分析的実験として位置づけ、主表は事前に決めた構成を使う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GPU の非決定性（同一 seed で最大約 0.7pp）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全 run の分布で比較し、単一 run の差は主張しない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oseti による明示 / 暗示分割は人手で未検証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限界に明記（検証用サンプル 400 件と採点ツールは準備済み）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2016 年のデータが不完全（約 20% のみ）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データの章に明記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ライセンスデータの本文引用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要確認（ご相談⑤）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一部の分析スクリプトが未整理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執筆前に整理し、保存済みの予測から再計算して照合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スケジュール案（提出日から逆算）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8983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577840"/>
                <a:gridCol w="292608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時期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作業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区切り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10 月前半（2 週）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RQ4・事例分析、図表作成、スクリプト整理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執筆準備の完了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10 月後半〜11 月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3〜5 章（データ・手法・実験）を執筆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11 月末：中間稿を提出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12 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6 章（分析）、1・2・7 章を執筆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12 月末：全体の初稿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1 月〜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修正、要旨、発表準備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提出日：要確認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5488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・提出日・中間提出の有無が分かり次第、この表を確定します（ご相談④）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・対外発表（言語処理学会 年次大会など）をする場合は、年明けの投稿締切に合わせて 5 章を前倒し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本日ご相談したいこと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8983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760720"/>
                <a:gridCol w="320040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論点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選択肢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私の提案</a:t>
                      </a:r>
                    </a:p>
                  </a:txBody>
                  <a:tcPr marL="73152" marR="73152" marT="36576" marB="36576" anchor="ctr">
                    <a:solidFill>
                      <a:srgbClr val="1C5CA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① 主結果の構成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A：XLM-R の主構成を主表、DeBERTa の積み上げは拡張実験</a:t>
                      </a:r>
                    </a:p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B：DeBERTa ＋ E7/E8 を主表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A（事前に決めた設定で、最も頑健）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② RQ3 の扱い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A：否定的な発見として正式に回答</a:t>
                      </a:r>
                    </a:p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B：分析の章での議論にとどめる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A（ベースモデルの結果と対比）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③ データ量・年代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A：分析的実験として報告</a:t>
                      </a:r>
                    </a:p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B：主張に含める（valid で選び直す追加実験が必要）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④ 言語・体裁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日本語 / 英語、テンプレート、分量、中間提出日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ご指示ください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⑤ 本文の引用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原文を引用 / 言い換えた例のみ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協定の確認方法をご相談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⑥ 追加実験・発表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追加実験なしで執筆に集中 / 学会発表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Yu Gothic"/>
                          <a:ea typeface="Yu Gothic"/>
                          <a:cs typeface="Yu Gothic"/>
                        </a:rPr>
                        <a:t>追加実験なし。発表はご判断</a:t>
                      </a:r>
                    </a:p>
                  </a:txBody>
                  <a:tcPr marL="73152" marR="73152" marT="36576" marB="36576" anchor="ctr">
                    <a:solidFill>
                      <a:srgbClr val="F5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付録：数値の出典と定義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8A8983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・すべての数値は docs/thesis_numbers.md に出典（結果ファイル）とともに登録済み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・ネガティブ集約 F1：7 つのネガティブラベルをまとめて計算した F1（ラベルごとの F1 の平均ではない）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・有意性：paired bootstrap（2,000 回）。複数 seed の比較は seed 平均の予測で検定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・E1 の 0.7033 と 0.7023 の差：学習時の評価と保存した予測からの再計算で、バッチ処理が異なるため（≤ 0.001）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B0B0B"/>
                </a:solidFill>
                <a:latin typeface="Yu Gothic"/>
                <a:ea typeface="Yu Gothic"/>
                <a:cs typeface="Yu Gothic"/>
              </a:rPr>
              <a:t>・評価には Gold test（5,356 文）のみを使用。パネルとの重複は除外済み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